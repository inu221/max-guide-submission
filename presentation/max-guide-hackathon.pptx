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99" d="100"/>
          <a:sy n="199" d="100"/>
        </p:scale>
        <p:origin x="684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2788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Начну с того, как решение можно проверить. На этом слайде перед подачей будут</a:t>
            </a:r>
          </a:p>
          <a:p>
            <a:r>
              <a:t>финальные QR-код и ссылка на mini app, адрес публичного API, зафиксированная</a:t>
            </a:r>
          </a:p>
          <a:p>
            <a:r>
              <a:t>версия исходников и тестовый пользователь. Мы специально вынесли доступы в</a:t>
            </a:r>
          </a:p>
          <a:p>
            <a:r>
              <a:t>начало, чтобы техническому эксперту не пришлось искать их по презентации.</a:t>
            </a:r>
          </a:p>
          <a:p>
            <a:endParaRPr/>
          </a:p>
          <a:p>
            <a:r>
              <a:t>Основной проверочный сценарий короткий: открыть mini app, выбрать интересы,</a:t>
            </a:r>
          </a:p>
          <a:p>
            <a:r>
              <a:t>получить маршрут и сохранить его. Дальше покажу, для кого и зачем мы этот путь</a:t>
            </a:r>
          </a:p>
          <a:p>
            <a:r>
              <a:t>собрали.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«Непарадный Ставрополь» — это личный проводник для человека, у которого есть</a:t>
            </a:r>
          </a:p>
          <a:p>
            <a:r>
              <a:t>несколько свободных часов в незнакомом городе. Вместо десятка вкладок он</a:t>
            </a:r>
          </a:p>
          <a:p>
            <a:r>
              <a:t>открывает MAX, выбирает интересы и получает готовую прогулку.</a:t>
            </a:r>
          </a:p>
          <a:p>
            <a:endParaRPr/>
          </a:p>
          <a:p>
            <a:r>
              <a:t>Это уже работающий продукт, а не макет. Мы начинали со Ставрополя, но проектируем</a:t>
            </a:r>
          </a:p>
          <a:p>
            <a:r>
              <a:t>сценарий так, чтобы переносить его на другие города через контент и правила</a:t>
            </a:r>
          </a:p>
          <a:p>
            <a:r>
              <a:t>качества, не переписывая ядро.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Наш основной пользователь — самостоятельный турист 18–35 лет, приехавший на</a:t>
            </a:r>
          </a:p>
          <a:p>
            <a:r>
              <a:t>день или выходные. У него осталось от двух до шести часов, и он хочет увидеть</a:t>
            </a:r>
          </a:p>
          <a:p>
            <a:r>
              <a:t>что-то живое и местное, а не только первую строку выдачи.</a:t>
            </a:r>
          </a:p>
          <a:p>
            <a:endParaRPr/>
          </a:p>
          <a:p>
            <a:r>
              <a:t>Сегодня план распадается на карты, подборки, отзывы и ручную логистику. В</a:t>
            </a:r>
          </a:p>
          <a:p>
            <a:r>
              <a:t>коротком временном окне ошибка особенно дорогая: можно долго выбирать, приехать</a:t>
            </a:r>
          </a:p>
          <a:p>
            <a:r>
              <a:t>к закрытому месту или построить неудобный маршрут. Пока это продуктовая</a:t>
            </a:r>
          </a:p>
          <a:p>
            <a:r>
              <a:t>гипотеза; следующим шагом мы проверяем её в пяти–семи интервью, не выдавая</a:t>
            </a:r>
          </a:p>
          <a:p>
            <a:r>
              <a:t>предположение за готовое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Слева показан текущий путь: пользователь скачет между источниками и сам</a:t>
            </a:r>
          </a:p>
          <a:p>
            <a:r>
              <a:t>соединяет точки. Справа — один последовательный сценарий: открыть MAX, указать</a:t>
            </a:r>
          </a:p>
          <a:p>
            <a:r>
              <a:t>интересы и время, получить маршрут, сохранить или отправить его.</a:t>
            </a:r>
          </a:p>
          <a:p>
            <a:endParaRPr/>
          </a:p>
          <a:p>
            <a:r>
              <a:t>Ключевой эффект — не ещё одна база мест. Мы сокращаем путь от мысли «куда</a:t>
            </a:r>
          </a:p>
          <a:p>
            <a:r>
              <a:t>пойти» до выполнимой прогулки в одном привычном канале. Теперь покажу этот</a:t>
            </a:r>
          </a:p>
          <a:p>
            <a:r>
              <a:t>сценарий по шагам.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Демонстрация строится вокруг одного сквозного сценария. Сначала пользователь</a:t>
            </a:r>
          </a:p>
          <a:p>
            <a:r>
              <a:t>заходит из бота в mini app, затем выбирает интересы и доступное время. На карте</a:t>
            </a:r>
          </a:p>
          <a:p>
            <a:r>
              <a:t>он видит подходящие места и получает маршрут.</a:t>
            </a:r>
          </a:p>
          <a:p>
            <a:endParaRPr/>
          </a:p>
          <a:p>
            <a:r>
              <a:t>После этого можно открыть карточку, сохранить или поделиться результатом, а</a:t>
            </a:r>
          </a:p>
          <a:p>
            <a:r>
              <a:t>позже вернуться к нему из профиля. Перед подачей нейтральные кадры на слайде</a:t>
            </a:r>
          </a:p>
          <a:p>
            <a:r>
              <a:t>будут заменены чистыми production-скриншотами; последовательность останется</a:t>
            </a:r>
          </a:p>
          <a:p>
            <a:r>
              <a:t>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MAX здесь не просто контейнер для веб-страницы. Бот приводит пользователя в</a:t>
            </a:r>
          </a:p>
          <a:p>
            <a:r>
              <a:t>mini app, mini app помогает спланировать прогулку, а тот же канал возвращает к</a:t>
            </a:r>
          </a:p>
          <a:p>
            <a:r>
              <a:t>сохранённому маршруту и позволяет им поделиться.</a:t>
            </a:r>
          </a:p>
          <a:p>
            <a:endParaRPr/>
          </a:p>
          <a:p>
            <a:r>
              <a:t>Справа мы отдельно показываем roadmap, а не готовую функцию: совместный маршрут</a:t>
            </a:r>
          </a:p>
          <a:p>
            <a:r>
              <a:t>для компании и уведомления об изменениях. Такое разделение важно — реализованный</a:t>
            </a:r>
          </a:p>
          <a:p>
            <a:r>
              <a:t>цикл уже можно проверить, а расширения имеют понятную связь с возможностями</a:t>
            </a:r>
          </a:p>
          <a:p>
            <a:r>
              <a:t>платформы.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Технический контур простой и воспроизводимый: MAX ведёт в React mini app,</a:t>
            </a:r>
          </a:p>
          <a:p>
            <a:r>
              <a:t>клиент работает с NestJS API, данные хранятся в PostgreSQL, а отдельная</a:t>
            </a:r>
          </a:p>
          <a:p>
            <a:r>
              <a:t>admin-панель управляет контентом. Docker Compose поднимает весь стенд одной</a:t>
            </a:r>
          </a:p>
          <a:p>
            <a:r>
              <a:t>командой.</a:t>
            </a:r>
          </a:p>
          <a:p>
            <a:endParaRPr/>
          </a:p>
          <a:p>
            <a:r>
              <a:t>Контракт API описан в OpenAPI 3.0: сейчас это 142 пути. Seed создаёт 101 место и</a:t>
            </a:r>
          </a:p>
          <a:p>
            <a:r>
              <a:t>68 записей с фотографиями. Автоматическая проверка проходит health, базу,</a:t>
            </a:r>
          </a:p>
          <a:p>
            <a:r>
              <a:t>контент, поиск, построение маршрута, регистрацию и вход. Это не продуктовые</a:t>
            </a:r>
          </a:p>
          <a:p>
            <a:r>
              <a:t>метрики, а проверяемые факты технической готовности.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Продукт доступен в production и уже проходил внешнюю защиту. Он победил в кейсе</a:t>
            </a:r>
          </a:p>
          <a:p>
            <a:r>
              <a:t>5.1 «Непарадный Ставрополь: локальный гид» на хакатоне студенческих проектов</a:t>
            </a:r>
          </a:p>
          <a:p>
            <a:r>
              <a:t>СКФУ «Идеи для MAX»; очный финал состоялся 28 апреля 2026 года.</a:t>
            </a:r>
          </a:p>
          <a:p>
            <a:endParaRPr/>
          </a:p>
          <a:p>
            <a:r>
              <a:t>Перед отправкой мы добавим публичное подтверждение победы в отмеченный слот.</a:t>
            </a:r>
          </a:p>
          <a:p>
            <a:r>
              <a:t>Следующая ступень зрелости для нас — не ещё один конкурсный функционал, а</a:t>
            </a:r>
          </a:p>
          <a:p>
            <a:r>
              <a:t>измеримый городской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Здесь принципиально показаны цели, а не якобы достигнутые значения. За четыре</a:t>
            </a:r>
          </a:p>
          <a:p>
            <a:r>
              <a:t>недели мы хотим проверить скорость, воронку, качество и возврат пользователя.</a:t>
            </a:r>
          </a:p>
          <a:p>
            <a:endParaRPr/>
          </a:p>
          <a:p>
            <a:r>
              <a:t>Маршрут должен появляться не дольше чем за три минуты; не менее 60 процентов</a:t>
            </a:r>
          </a:p>
          <a:p>
            <a:r>
              <a:t>начавших должны завершить построение. Мы проверим переход из бота в mini app,</a:t>
            </a:r>
          </a:p>
          <a:p>
            <a:r>
              <a:t>сохранение или отправку маршрута, безошибочное прохождение основного сценария и</a:t>
            </a:r>
          </a:p>
          <a:p>
            <a:r>
              <a:t>возврат на седьмой день. Базовые значения фиксируем в первую неделю, а в конце</a:t>
            </a:r>
          </a:p>
          <a:p>
            <a:r>
              <a:t>принимаем решение о масштабировании.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Единица масштабирования — не копия приложения, а городской контент-пак:</a:t>
            </a:r>
          </a:p>
          <a:p>
            <a:r>
              <a:t>проверенные места, правила качества, локальные участники и аналитика поверх</a:t>
            </a:r>
          </a:p>
          <a:p>
            <a:r>
              <a:t>общего продукта и API.</a:t>
            </a:r>
          </a:p>
          <a:p>
            <a:endParaRPr/>
          </a:p>
          <a:p>
            <a:r>
              <a:t>Сначала мы подтверждаем сценарий в Ставрополе, затем переносим процесс в</a:t>
            </a:r>
          </a:p>
          <a:p>
            <a:r>
              <a:t>туристический кластер КМВ и после этого — в соседний регион. Турцентры,</a:t>
            </a:r>
          </a:p>
          <a:p>
            <a:r>
              <a:t>учреждения культуры, организаторы и локальный бизнес здесь являются</a:t>
            </a:r>
          </a:p>
          <a:p>
            <a:r>
              <a:t>потенциальными партнёрами; мы не заявляем договорённости, которых ещё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Наш следующий шаг — измеримый городской пилот. От экосистемы хакатона нам</a:t>
            </a:r>
          </a:p>
          <a:p>
            <a:r>
              <a:t>нужны экспертиза MAX, доступ к тестовой аудитории и партнёры, которые помогут</a:t>
            </a:r>
          </a:p>
          <a:p>
            <a:r>
              <a:t>верифицировать локальный контент.</a:t>
            </a:r>
          </a:p>
          <a:p>
            <a:endParaRPr/>
          </a:p>
          <a:p>
            <a:r>
              <a:t>Команда объединяет трёх fullstack-разработчиков и UX/UI-дизайнера: Никита</a:t>
            </a:r>
          </a:p>
          <a:p>
            <a:r>
              <a:t>Дибров — капитан, Дмитрий Диканский, Никита Панкин и Кирилл Новиков. Наша</a:t>
            </a:r>
          </a:p>
          <a:p>
            <a:r>
              <a:t>финальная мысль проста: мы помогаем не просто найти точки на карте, а прожить</a:t>
            </a:r>
          </a:p>
          <a:p>
            <a:r>
              <a:t>город, даже когда на него есть всего несколько часов.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658368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25296" y="320040"/>
            <a:ext cx="4206240" cy="384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400" b="1">
                <a:solidFill>
                  <a:srgbClr val="001F1E"/>
                </a:solidFill>
                <a:latin typeface="Arial"/>
              </a:rPr>
              <a:t>Доступ к решению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43584" y="841248"/>
            <a:ext cx="4434840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1150" b="0" noProof="0" dirty="0">
                <a:solidFill>
                  <a:srgbClr val="67827B"/>
                </a:solidFill>
                <a:latin typeface="Arial"/>
              </a:rPr>
              <a:t>«Непарадный Ставрополь» — служебный первый слайд для технической проверки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1752"/>
            <a:ext cx="2560320" cy="12344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D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29768"/>
            <a:ext cx="987552" cy="98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504" y="475488"/>
            <a:ext cx="1051560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000" b="1">
                <a:solidFill>
                  <a:srgbClr val="001F1E"/>
                </a:solidFill>
                <a:latin typeface="Arial"/>
              </a:rPr>
              <a:t>Mini app / бот MAX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777240"/>
            <a:ext cx="1024128" cy="384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850" b="0" noProof="0" dirty="0">
                <a:solidFill>
                  <a:srgbClr val="67827B"/>
                </a:solidFill>
                <a:latin typeface="Arial"/>
              </a:rPr>
              <a:t>QR и ссылка для быстрого входа перед подачей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1504" y="1207008"/>
            <a:ext cx="1078992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660" b="0" dirty="0">
                <a:solidFill>
                  <a:srgbClr val="001F1E"/>
                </a:solidFill>
                <a:latin typeface="Arial"/>
              </a:rPr>
              <a:t>https://max.ru/t632_hakaton_max_bot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64208"/>
            <a:ext cx="5897880" cy="2679192"/>
          </a:xfrm>
          <a:prstGeom prst="roundRect">
            <a:avLst/>
          </a:prstGeom>
          <a:solidFill>
            <a:srgbClr val="EAF1EE"/>
          </a:solidFill>
          <a:ln w="13970">
            <a:solidFill>
              <a:srgbClr val="B9D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" y="1828800"/>
            <a:ext cx="2926080" cy="21945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500" b="1">
                <a:solidFill>
                  <a:srgbClr val="001F1E"/>
                </a:solidFill>
                <a:latin typeface="Arial"/>
              </a:rPr>
              <a:t>Проверочные ссылки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2194560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1248" y="2313432"/>
            <a:ext cx="841248" cy="182880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MAX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2267712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 dirty="0">
                <a:solidFill>
                  <a:srgbClr val="001F1E"/>
                </a:solidFill>
                <a:latin typeface="Arial"/>
              </a:rPr>
              <a:t>https://max.ru/t632_hakaton_max_bot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2459736"/>
            <a:ext cx="3986784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780" b="0" dirty="0" err="1">
                <a:solidFill>
                  <a:srgbClr val="67827B"/>
                </a:solidFill>
                <a:latin typeface="Arial"/>
              </a:rPr>
              <a:t>Основной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 </a:t>
            </a:r>
            <a:r>
              <a:rPr sz="780" b="0" dirty="0" err="1">
                <a:solidFill>
                  <a:srgbClr val="67827B"/>
                </a:solidFill>
                <a:latin typeface="Arial"/>
              </a:rPr>
              <a:t>сценарий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 </a:t>
            </a:r>
            <a:r>
              <a:rPr sz="780" b="0" dirty="0" err="1">
                <a:solidFill>
                  <a:srgbClr val="67827B"/>
                </a:solidFill>
                <a:latin typeface="Arial"/>
              </a:rPr>
              <a:t>запускается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 в 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2724912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41248" y="2843784"/>
            <a:ext cx="841248" cy="182880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2798064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 dirty="0">
                <a:solidFill>
                  <a:srgbClr val="001F1E"/>
                </a:solidFill>
                <a:latin typeface="Arial"/>
              </a:rPr>
              <a:t>https://max-guide.legacy-team.tech/api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2990088"/>
            <a:ext cx="3986784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780" b="0">
                <a:solidFill>
                  <a:srgbClr val="67827B"/>
                </a:solidFill>
                <a:latin typeface="Arial"/>
              </a:rPr>
              <a:t>Публичный HTTPS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255264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8" y="3374136"/>
            <a:ext cx="841248" cy="182880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47088" y="3328416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>
                <a:solidFill>
                  <a:srgbClr val="001F1E"/>
                </a:solidFill>
                <a:latin typeface="Arial"/>
              </a:rPr>
              <a:t>https://max-guide.legacy-team.tech/api/docs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3520440"/>
            <a:ext cx="3986784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780" b="0">
                <a:solidFill>
                  <a:srgbClr val="67827B"/>
                </a:solidFill>
                <a:latin typeface="Arial"/>
              </a:rPr>
              <a:t>Swagger / OpenAPI 3.x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3785615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41248" y="3904487"/>
            <a:ext cx="841248" cy="182880"/>
          </a:xfrm>
          <a:prstGeom prst="roundRect">
            <a:avLst/>
          </a:prstGeom>
          <a:solidFill>
            <a:srgbClr val="D96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7088" y="3858768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 dirty="0">
                <a:solidFill>
                  <a:srgbClr val="001F1E"/>
                </a:solidFill>
                <a:latin typeface="Arial"/>
              </a:rPr>
              <a:t>https://github.com/Inu221/max-guide-submission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7088" y="4050791"/>
            <a:ext cx="4251960" cy="13849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r>
              <a:rPr lang="en-US" sz="780" dirty="0">
                <a:solidFill>
                  <a:srgbClr val="67827B"/>
                </a:solidFill>
                <a:latin typeface="Arial"/>
              </a:rPr>
              <a:t>SHA-256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: </a:t>
            </a:r>
            <a:r>
              <a:rPr lang="en-US" sz="780" dirty="0">
                <a:solidFill>
                  <a:srgbClr val="67827B"/>
                </a:solidFill>
                <a:latin typeface="Arial"/>
              </a:rPr>
              <a:t>8358b47e2ad91e1a2f8883907e0b5862e9dd75558ea79ea463591b7ab4bbbf17</a:t>
            </a:r>
            <a:endParaRPr sz="780" b="0" dirty="0">
              <a:solidFill>
                <a:srgbClr val="67827B"/>
              </a:solidFill>
              <a:latin typeface="Arial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510528" y="1664208"/>
            <a:ext cx="2221992" cy="26791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D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Rounded Rectangle 30"/>
          <p:cNvSpPr/>
          <p:nvPr/>
        </p:nvSpPr>
        <p:spPr>
          <a:xfrm>
            <a:off x="6766560" y="1856231"/>
            <a:ext cx="950976" cy="201168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TEST USER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148840"/>
            <a:ext cx="1536192" cy="23774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1300" b="1" noProof="0" dirty="0">
                <a:solidFill>
                  <a:srgbClr val="001F1E"/>
                </a:solidFill>
                <a:latin typeface="Arial"/>
              </a:rPr>
              <a:t>Тестовый пользователь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615184"/>
            <a:ext cx="1630600" cy="1646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Логин:     </a:t>
            </a:r>
            <a:r>
              <a:rPr lang="en-US" sz="950" dirty="0">
                <a:solidFill>
                  <a:srgbClr val="001F1E"/>
                </a:solidFill>
                <a:latin typeface="Arial"/>
              </a:rPr>
              <a:t>admin@admin.com</a:t>
            </a:r>
            <a:endParaRPr lang="ru-RU" sz="950" b="0" noProof="0" dirty="0">
              <a:solidFill>
                <a:srgbClr val="001F1E"/>
              </a:solidFill>
              <a:latin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766560" y="2935224"/>
            <a:ext cx="1481328" cy="457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Пароль:    </a:t>
            </a:r>
            <a:r>
              <a:rPr lang="en-US" sz="950" b="0" noProof="0" dirty="0" err="1">
                <a:solidFill>
                  <a:srgbClr val="001F1E"/>
                </a:solidFill>
                <a:latin typeface="Arial"/>
              </a:rPr>
              <a:t>adminadmin</a:t>
            </a:r>
            <a:endParaRPr lang="en-US" sz="950" b="0" noProof="0" dirty="0">
              <a:solidFill>
                <a:srgbClr val="001F1E"/>
              </a:solidFill>
              <a:latin typeface="Arial"/>
            </a:endParaRPr>
          </a:p>
          <a:p>
            <a:pPr algn="l"/>
            <a:endParaRPr lang="en-US" sz="950" dirty="0">
              <a:solidFill>
                <a:srgbClr val="001F1E"/>
              </a:solidFill>
              <a:latin typeface="Arial"/>
            </a:endParaRPr>
          </a:p>
          <a:p>
            <a:pPr algn="l"/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Роль: пользователь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83259" y="3455540"/>
            <a:ext cx="1948486" cy="480951"/>
          </a:xfrm>
          <a:prstGeom prst="roundRect">
            <a:avLst/>
          </a:prstGeom>
          <a:solidFill>
            <a:srgbClr val="F8F6E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11480" y="4517136"/>
            <a:ext cx="8321040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D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58368" y="4626864"/>
            <a:ext cx="841248" cy="164592"/>
          </a:xfrm>
          <a:prstGeom prst="roundRect">
            <a:avLst/>
          </a:prstGeom>
          <a:solidFill>
            <a:srgbClr val="D96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СЦЕНАРИЙ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15579" y="4581145"/>
            <a:ext cx="6656832" cy="1828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910" b="0" noProof="0" dirty="0">
                <a:solidFill>
                  <a:srgbClr val="001F1E"/>
                </a:solidFill>
                <a:latin typeface="Arial"/>
              </a:rPr>
              <a:t>Открыть MAX → выбрать интересы и доступное время → получить маршрут → открыть карточку места → сохранить или отправить результат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536946"/>
            <a:ext cx="1965960" cy="3031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Доступен только из браузера: </a:t>
            </a:r>
            <a:r>
              <a:rPr lang="en-US" sz="900" dirty="0">
                <a:solidFill>
                  <a:srgbClr val="001F1E"/>
                </a:solidFill>
                <a:latin typeface="Arial"/>
              </a:rPr>
              <a:t>https://max-guide.legacy-team.tech</a:t>
            </a:r>
            <a:endParaRPr lang="ru-RU" sz="950" b="0" noProof="0" dirty="0">
              <a:solidFill>
                <a:srgbClr val="001F1E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885527-F0ED-A4BF-AD63-DBC2D487FA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8485" y="3341989"/>
            <a:ext cx="1403006" cy="140300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1005</Words>
  <Application>Microsoft Office PowerPoint</Application>
  <PresentationFormat>Экран (16:9)</PresentationFormat>
  <Paragraphs>114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Dmitriy Dikanskiy</cp:lastModifiedBy>
  <cp:revision>5</cp:revision>
  <dcterms:created xsi:type="dcterms:W3CDTF">2013-01-27T09:14:16Z</dcterms:created>
  <dcterms:modified xsi:type="dcterms:W3CDTF">2026-09-30T00:55:02Z</dcterms:modified>
  <cp:category/>
</cp:coreProperties>
</file>