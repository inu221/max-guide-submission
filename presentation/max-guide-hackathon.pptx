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4d10480d8947e7" /><Relationship Type="http://schemas.openxmlformats.org/officeDocument/2006/relationships/extended-properties" Target="/docProps/app.xml" Id="Ra7f1d9a562794beb" /><Relationship Type="http://schemas.openxmlformats.org/officeDocument/2006/relationships/officeDocument" Target="/ppt/presentation.xml" Id="R9598e17091564ea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9db5eced844640"/>
  </p:sldMasterIdLst>
  <p:notesMasterIdLst>
    <p:notesMasterId xmlns:r="http://schemas.openxmlformats.org/officeDocument/2006/relationships" r:id="Rd9194ae3c29d402b"/>
  </p:notesMasterIdLst>
  <p:sldIdLst>
    <p:sldId xmlns:r="http://schemas.openxmlformats.org/officeDocument/2006/relationships" id="256" r:id="R7fd28f5c975046b0"/>
    <p:sldId xmlns:r="http://schemas.openxmlformats.org/officeDocument/2006/relationships" id="257" r:id="R30ee4fa5923741fe"/>
    <p:sldId xmlns:r="http://schemas.openxmlformats.org/officeDocument/2006/relationships" id="258" r:id="Rd93a4236087a4963"/>
    <p:sldId xmlns:r="http://schemas.openxmlformats.org/officeDocument/2006/relationships" id="259" r:id="Rad165d3fe6654161"/>
    <p:sldId xmlns:r="http://schemas.openxmlformats.org/officeDocument/2006/relationships" id="260" r:id="Rc4565785820d47e6"/>
    <p:sldId xmlns:r="http://schemas.openxmlformats.org/officeDocument/2006/relationships" id="261" r:id="Rcdfd5d6c65ec464f"/>
    <p:sldId xmlns:r="http://schemas.openxmlformats.org/officeDocument/2006/relationships" id="262" r:id="R786276765d70411b"/>
    <p:sldId xmlns:r="http://schemas.openxmlformats.org/officeDocument/2006/relationships" id="263" r:id="Rfdd0bce174f64e46"/>
    <p:sldId xmlns:r="http://schemas.openxmlformats.org/officeDocument/2006/relationships" id="264" r:id="Rd9e4b5471f614cc8"/>
    <p:sldId xmlns:r="http://schemas.openxmlformats.org/officeDocument/2006/relationships" id="265" r:id="R243edfb1645e433c"/>
    <p:sldId xmlns:r="http://schemas.openxmlformats.org/officeDocument/2006/relationships" id="266" r:id="Red01098c89f3471b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32b4a90b9964948" /><Relationship Type="http://schemas.openxmlformats.org/officeDocument/2006/relationships/slideMaster" Target="/ppt/slideMasters/slideMaster1.xml" Id="R1b9db5eced844640" /><Relationship Type="http://schemas.openxmlformats.org/officeDocument/2006/relationships/notesMaster" Target="/ppt/notesMasters/notesMaster1.xml" Id="Rd9194ae3c29d402b" /><Relationship Type="http://schemas.openxmlformats.org/officeDocument/2006/relationships/presProps" Target="/ppt/presProps.xml" Id="Rdeb580ec3ea04837" /><Relationship Type="http://schemas.openxmlformats.org/officeDocument/2006/relationships/viewProps" Target="/ppt/viewProps.xml" Id="R88393fab615b4b7d" /><Relationship Type="http://schemas.openxmlformats.org/officeDocument/2006/relationships/tableStyles" Target="/ppt/tableStyles.xml" Id="R4733a462ed1a4664" /><Relationship Type="http://schemas.openxmlformats.org/officeDocument/2006/relationships/slide" Target="/ppt/slides/slide1.xml" Id="R7fd28f5c975046b0" /><Relationship Type="http://schemas.openxmlformats.org/officeDocument/2006/relationships/slide" Target="/ppt/slides/slide2.xml" Id="R30ee4fa5923741fe" /><Relationship Type="http://schemas.openxmlformats.org/officeDocument/2006/relationships/slide" Target="/ppt/slides/slide3.xml" Id="Rd93a4236087a4963" /><Relationship Type="http://schemas.openxmlformats.org/officeDocument/2006/relationships/slide" Target="/ppt/slides/slide4.xml" Id="Rad165d3fe6654161" /><Relationship Type="http://schemas.openxmlformats.org/officeDocument/2006/relationships/slide" Target="/ppt/slides/slide5.xml" Id="Rc4565785820d47e6" /><Relationship Type="http://schemas.openxmlformats.org/officeDocument/2006/relationships/slide" Target="/ppt/slides/slide6.xml" Id="Rcdfd5d6c65ec464f" /><Relationship Type="http://schemas.openxmlformats.org/officeDocument/2006/relationships/slide" Target="/ppt/slides/slide7.xml" Id="R786276765d70411b" /><Relationship Type="http://schemas.openxmlformats.org/officeDocument/2006/relationships/slide" Target="/ppt/slides/slide8.xml" Id="Rfdd0bce174f64e46" /><Relationship Type="http://schemas.openxmlformats.org/officeDocument/2006/relationships/slide" Target="/ppt/slides/slide9.xml" Id="Rd9e4b5471f614cc8" /><Relationship Type="http://schemas.openxmlformats.org/officeDocument/2006/relationships/slide" Target="/ppt/slides/slide10.xml" Id="R243edfb1645e433c" /><Relationship Type="http://schemas.openxmlformats.org/officeDocument/2006/relationships/slide" Target="/ppt/slides/slide11.xml" Id="Red01098c89f347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6cb5d4c820141a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cc20faa14149d3" /><Relationship Type="http://schemas.openxmlformats.org/officeDocument/2006/relationships/notesMaster" Target="/ppt/notesMasters/notesMaster1.xml" Id="R2b8ef01adfbf44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fa54ee82f8a4eee" /><Relationship Type="http://schemas.openxmlformats.org/officeDocument/2006/relationships/notesMaster" Target="/ppt/notesMasters/notesMaster1.xml" Id="R8a81734a8a3c4a6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5dfc8d17ef4605" /><Relationship Type="http://schemas.openxmlformats.org/officeDocument/2006/relationships/notesMaster" Target="/ppt/notesMasters/notesMaster1.xml" Id="Rd844d9926e3e4ae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0b23b51e8b4430e" /><Relationship Type="http://schemas.openxmlformats.org/officeDocument/2006/relationships/notesMaster" Target="/ppt/notesMasters/notesMaster1.xml" Id="R017e900a140f4f6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8c7fd044e5b45a7" /><Relationship Type="http://schemas.openxmlformats.org/officeDocument/2006/relationships/notesMaster" Target="/ppt/notesMasters/notesMaster1.xml" Id="R5d7e7ca0b2cd4cb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4b4ea9cb6524856" /><Relationship Type="http://schemas.openxmlformats.org/officeDocument/2006/relationships/notesMaster" Target="/ppt/notesMasters/notesMaster1.xml" Id="Re73fef9d5d464bb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f5dd4dec2ef49e6" /><Relationship Type="http://schemas.openxmlformats.org/officeDocument/2006/relationships/notesMaster" Target="/ppt/notesMasters/notesMaster1.xml" Id="R583bfad30ba44fb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3c39d05f39e4a98" /><Relationship Type="http://schemas.openxmlformats.org/officeDocument/2006/relationships/notesMaster" Target="/ppt/notesMasters/notesMaster1.xml" Id="R1518fb2e776a4cb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5b2995d030b4367" /><Relationship Type="http://schemas.openxmlformats.org/officeDocument/2006/relationships/notesMaster" Target="/ppt/notesMasters/notesMaster1.xml" Id="R9ce037c797a7451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edc9eef90ed4d66" /><Relationship Type="http://schemas.openxmlformats.org/officeDocument/2006/relationships/notesMaster" Target="/ppt/notesMasters/notesMaster1.xml" Id="R69d8894e767446c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18b8b60d7f94990" /><Relationship Type="http://schemas.openxmlformats.org/officeDocument/2006/relationships/notesMaster" Target="/ppt/notesMasters/notesMaster1.xml" Id="Ra6a76065a6f5468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Начну с того, как решение можно проверить. На этом слайде перед подачей будут</a:t>
            </a:r>
          </a:p>
          <a:p xmlns:a="http://schemas.openxmlformats.org/drawingml/2006/main">
            <a:r>
              <a:t>финальные QR-код и ссылка на mini app, адрес публичного API, зафиксированная</a:t>
            </a:r>
          </a:p>
          <a:p xmlns:a="http://schemas.openxmlformats.org/drawingml/2006/main">
            <a:r>
              <a:t>версия исходников и тестовый пользователь. Мы специально вынесли доступы в</a:t>
            </a:r>
          </a:p>
          <a:p xmlns:a="http://schemas.openxmlformats.org/drawingml/2006/main">
            <a:r>
              <a:t>начало, чтобы техническому эксперту не пришлось искать их по презентации.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Основной проверочный сценарий короткий: открыть mini app, выбрать интересы,</a:t>
            </a:r>
          </a:p>
          <a:p xmlns:a="http://schemas.openxmlformats.org/drawingml/2006/main">
            <a:r>
              <a:t>получить маршрут и сохранить его. Дальше покажу, для кого и зачем мы этот путь</a:t>
            </a:r>
          </a:p>
          <a:p xmlns:a="http://schemas.openxmlformats.org/drawingml/2006/main">
            <a:r>
              <a:t>собрали.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«Непарадный Ставрополь» — это личный проводник для человека, у которого есть</a:t>
            </a:r>
          </a:p>
          <a:p xmlns:a="http://schemas.openxmlformats.org/drawingml/2006/main">
            <a:r>
              <a:t>несколько свободных часов в незнакомом городе. Вместо десятка вкладок он</a:t>
            </a:r>
          </a:p>
          <a:p xmlns:a="http://schemas.openxmlformats.org/drawingml/2006/main">
            <a:r>
              <a:t>открывает MAX, выбирает интересы и получает готовую прогулку.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Это уже работающий продукт, а не макет. Мы начинали со Ставрополя, но проектируем</a:t>
            </a:r>
          </a:p>
          <a:p xmlns:a="http://schemas.openxmlformats.org/drawingml/2006/main">
            <a:r>
              <a:t>сценарий так, чтобы переносить его на другие города через контент и правила</a:t>
            </a:r>
          </a:p>
          <a:p xmlns:a="http://schemas.openxmlformats.org/drawingml/2006/main">
            <a:r>
              <a:t>качества, не переписывая ядро.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Наш основной пользователь — самостоятельный турист 18–35 лет, приехавший на</a:t>
            </a:r>
          </a:p>
          <a:p xmlns:a="http://schemas.openxmlformats.org/drawingml/2006/main">
            <a:r>
              <a:t>день или выходные. У него осталось от двух до шести часов, и он хочет увидеть</a:t>
            </a:r>
          </a:p>
          <a:p xmlns:a="http://schemas.openxmlformats.org/drawingml/2006/main">
            <a:r>
              <a:t>что-то живое и местное, а не только первую строку выдачи.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Сегодня план распадается на карты, подборки, отзывы и ручную логистику. В</a:t>
            </a:r>
          </a:p>
          <a:p xmlns:a="http://schemas.openxmlformats.org/drawingml/2006/main">
            <a:r>
              <a:t>коротком временном окне ошибка особенно дорогая: можно долго выбирать, приехать</a:t>
            </a:r>
          </a:p>
          <a:p xmlns:a="http://schemas.openxmlformats.org/drawingml/2006/main">
            <a:r>
              <a:t>к закрытому месту или построить неудобный маршрут. Пока это продуктовая</a:t>
            </a:r>
          </a:p>
          <a:p xmlns:a="http://schemas.openxmlformats.org/drawingml/2006/main">
            <a:r>
              <a:t>гипотеза; следующим шагом мы проверяем её в пяти–семи интервью, не выдавая</a:t>
            </a:r>
          </a:p>
          <a:p xmlns:a="http://schemas.openxmlformats.org/drawingml/2006/main">
            <a:r>
              <a:t>предположение за готовое исследование.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Слева показан текущий путь: пользователь скачет между источниками и сам</a:t>
            </a:r>
          </a:p>
          <a:p xmlns:a="http://schemas.openxmlformats.org/drawingml/2006/main">
            <a:r>
              <a:t>соединяет точки. Справа — один последовательный сценарий: открыть MAX, указать</a:t>
            </a:r>
          </a:p>
          <a:p xmlns:a="http://schemas.openxmlformats.org/drawingml/2006/main">
            <a:r>
              <a:t>интересы и время, получить маршрут, сохранить или отправить его.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Ключевой эффект — не ещё одна база мест. Мы сокращаем путь от мысли «куда</a:t>
            </a:r>
          </a:p>
          <a:p xmlns:a="http://schemas.openxmlformats.org/drawingml/2006/main">
            <a:r>
              <a:t>пойти» до выполнимой прогулки в одном привычном канале. Теперь покажу этот</a:t>
            </a:r>
          </a:p>
          <a:p xmlns:a="http://schemas.openxmlformats.org/drawingml/2006/main">
            <a:r>
              <a:t>сценарий по шагам.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Реальные скриншоты https://max-guide.legacy-team.tech, мобильный viewport 390×844. Экран 5: сохранённые маршруты на карте, не закладки профиля. Скриншот бота MAX не предоставлен.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MAX здесь не просто контейнер для веб-страницы. Бот приводит пользователя в</a:t>
            </a:r>
          </a:p>
          <a:p xmlns:a="http://schemas.openxmlformats.org/drawingml/2006/main">
            <a:r>
              <a:t>mini app, mini app помогает спланировать прогулку, а тот же канал возвращает к</a:t>
            </a:r>
          </a:p>
          <a:p xmlns:a="http://schemas.openxmlformats.org/drawingml/2006/main">
            <a:r>
              <a:t>сохранённому маршруту и позволяет им поделиться.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Справа мы отдельно показываем roadmap, а не готовую функцию: совместный маршрут</a:t>
            </a:r>
          </a:p>
          <a:p xmlns:a="http://schemas.openxmlformats.org/drawingml/2006/main">
            <a:r>
              <a:t>для компании и уведомления об изменениях. Такое разделение важно — реализованный</a:t>
            </a:r>
          </a:p>
          <a:p xmlns:a="http://schemas.openxmlformats.org/drawingml/2006/main">
            <a:r>
              <a:t>цикл уже можно проверить, а расширения имеют понятную связь с возможностями</a:t>
            </a:r>
          </a:p>
          <a:p xmlns:a="http://schemas.openxmlformats.org/drawingml/2006/main">
            <a:r>
              <a:t>платформы.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Технический контур простой и воспроизводимый: MAX ведёт в React mini app,</a:t>
            </a:r>
          </a:p>
          <a:p xmlns:a="http://schemas.openxmlformats.org/drawingml/2006/main">
            <a:r>
              <a:t>клиент работает с NestJS API, данные хранятся в PostgreSQL, а отдельная</a:t>
            </a:r>
          </a:p>
          <a:p xmlns:a="http://schemas.openxmlformats.org/drawingml/2006/main">
            <a:r>
              <a:t>admin-панель управляет контентом. Docker Compose поднимает весь стенд одной</a:t>
            </a:r>
          </a:p>
          <a:p xmlns:a="http://schemas.openxmlformats.org/drawingml/2006/main">
            <a:r>
              <a:t>командой.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Контракт API описан в OpenAPI 3.0: сейчас это 142 пути. Seed создаёт 101 место и</a:t>
            </a:r>
          </a:p>
          <a:p xmlns:a="http://schemas.openxmlformats.org/drawingml/2006/main">
            <a:r>
              <a:t>68 записей с фотографиями. Автоматическая проверка проходит health, базу,</a:t>
            </a:r>
          </a:p>
          <a:p xmlns:a="http://schemas.openxmlformats.org/drawingml/2006/main">
            <a:r>
              <a:t>контент, поиск, построение маршрута, регистрацию и вход. Это не продуктовые</a:t>
            </a:r>
          </a:p>
          <a:p xmlns:a="http://schemas.openxmlformats.org/drawingml/2006/main">
            <a:r>
              <a:t>метрики, а проверяемые факты технической готовности.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Продукт доступен в production и уже проходил внешнюю защиту. Он победил в кейсе</a:t>
            </a:r>
          </a:p>
          <a:p xmlns:a="http://schemas.openxmlformats.org/drawingml/2006/main">
            <a:r>
              <a:t>5.1 «Непарадный Ставрополь: локальный гид» на хакатоне студенческих проектов</a:t>
            </a:r>
          </a:p>
          <a:p xmlns:a="http://schemas.openxmlformats.org/drawingml/2006/main">
            <a:r>
              <a:t>СКФУ «Идеи для MAX»; очный финал состоялся 28 апреля 2026 года.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Перед отправкой мы добавим публичное подтверждение победы в отмеченный слот.</a:t>
            </a:r>
          </a:p>
          <a:p xmlns:a="http://schemas.openxmlformats.org/drawingml/2006/main">
            <a:r>
              <a:t>Следующая ступень зрелости для нас — не ещё один конкурсный функционал, а</a:t>
            </a:r>
          </a:p>
          <a:p xmlns:a="http://schemas.openxmlformats.org/drawingml/2006/main">
            <a:r>
              <a:t>измеримый городской пилот.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Здесь принципиально показаны цели, а не якобы достигнутые значения. За четыре</a:t>
            </a:r>
          </a:p>
          <a:p xmlns:a="http://schemas.openxmlformats.org/drawingml/2006/main">
            <a:r>
              <a:t>недели мы хотим проверить скорость, воронку, качество и возврат пользователя.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Маршрут должен появляться не дольше чем за три минуты; не менее 60 процентов</a:t>
            </a:r>
          </a:p>
          <a:p xmlns:a="http://schemas.openxmlformats.org/drawingml/2006/main">
            <a:r>
              <a:t>начавших должны завершить построение. Мы проверим переход из бота в mini app,</a:t>
            </a:r>
          </a:p>
          <a:p xmlns:a="http://schemas.openxmlformats.org/drawingml/2006/main">
            <a:r>
              <a:t>сохранение или отправку маршрута, безошибочное прохождение основного сценария и</a:t>
            </a:r>
          </a:p>
          <a:p xmlns:a="http://schemas.openxmlformats.org/drawingml/2006/main">
            <a:r>
              <a:t>возврат на седьмой день. Базовые значения фиксируем в первую неделю, а в конце</a:t>
            </a:r>
          </a:p>
          <a:p xmlns:a="http://schemas.openxmlformats.org/drawingml/2006/main">
            <a:r>
              <a:t>принимаем решение о масштабировании.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Единица масштабирования — не копия приложения, а городской контент-пак:</a:t>
            </a:r>
          </a:p>
          <a:p xmlns:a="http://schemas.openxmlformats.org/drawingml/2006/main">
            <a:r>
              <a:t>проверенные места, правила качества, локальные участники и аналитика поверх</a:t>
            </a:r>
          </a:p>
          <a:p xmlns:a="http://schemas.openxmlformats.org/drawingml/2006/main">
            <a:r>
              <a:t>общего продукта и API.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Сначала мы подтверждаем сценарий в Ставрополе, затем переносим процесс в</a:t>
            </a:r>
          </a:p>
          <a:p xmlns:a="http://schemas.openxmlformats.org/drawingml/2006/main">
            <a:r>
              <a:t>туристический кластер КМВ и после этого — в соседний регион. Турцентры,</a:t>
            </a:r>
          </a:p>
          <a:p xmlns:a="http://schemas.openxmlformats.org/drawingml/2006/main">
            <a:r>
              <a:t>учреждения культуры, организаторы и локальный бизнес здесь являются</a:t>
            </a:r>
          </a:p>
          <a:p xmlns:a="http://schemas.openxmlformats.org/drawingml/2006/main">
            <a:r>
              <a:t>потенциальными партнёрами; мы не заявляем договорённости, которых ещё нет.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Наш следующий шаг — измеримый городской пилот. От экосистемы хакатона нам</a:t>
            </a:r>
          </a:p>
          <a:p xmlns:a="http://schemas.openxmlformats.org/drawingml/2006/main">
            <a:r>
              <a:t>нужны экспертиза MAX, доступ к тестовой аудитории и партнёры, которые помогут</a:t>
            </a:r>
          </a:p>
          <a:p xmlns:a="http://schemas.openxmlformats.org/drawingml/2006/main">
            <a:r>
              <a:t>верифицировать локальный контент.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Команда объединяет трёх fullstack-разработчиков и UX/UI-дизайнера: Никита</a:t>
            </a:r>
          </a:p>
          <a:p xmlns:a="http://schemas.openxmlformats.org/drawingml/2006/main">
            <a:r>
              <a:t>Дибров — капитан, Дмитрий Диканский, Никита Панкин и Кирилл Новиков. Наша</a:t>
            </a:r>
          </a:p>
          <a:p xmlns:a="http://schemas.openxmlformats.org/drawingml/2006/main">
            <a:r>
              <a:t>финальная мысль проста: мы помогаем не просто найти точки на карте, а прожить</a:t>
            </a:r>
          </a:p>
          <a:p xmlns:a="http://schemas.openxmlformats.org/drawingml/2006/main">
            <a:r>
              <a:t>город, даже когда на него есть всего несколько часов.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3edb3304c7488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313b24b7994fc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1cb0238f2546a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90a42d8d6c453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4ff8454b094bf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fa005df66b440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e1f29b14ac4a1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afe73dbb79444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93eee1fa5e49a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da1949e825422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66135a68a64f27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87CD5E-7428-451C-B111-8D44B0FD883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7728BE2-A394-403D-9786-084954C2C3E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6566AEC-49ED-423C-AF51-F3211101D0F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9/30/2026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970010E-0093-45B5-9A68-3571C164E2A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62CEA43-E753-4DE7-BCDA-747D986C289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5FF17D5-1A2C-4966-930A-6DFA87F16C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3B55299-949F-4CAD-AA07-F20CBA48DC9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476F57D-61C7-4CE2-BD19-FCFD8A383AB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9/30/2026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69E5039-5756-4E41-98C3-98CD54E8D24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7C0F201-973F-4C8E-90FC-2DDFD55F69A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8B05D19-8D8E-4C1D-A2A6-0F2144B3E0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8A0BF82-9637-458C-B286-06C0878C4D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60FB51E-6CF2-4ED2-B8CD-C14FAE30118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9/30/2026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DA0DE0E-F740-43BC-A4E3-AFDCBDFD9A1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3C97143-B838-47F2-828A-B531D04D7C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5C8BD1B-4F54-405C-ACF9-924112E4D3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C42A927-4B27-40BC-9AD9-F606337E6D8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7390212-8272-4010-9CED-669418EF76C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AB22BBB-E272-4D5E-A17D-CBD7EDE683A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9/30/2026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0257039-545F-477F-BDD5-E495892FAA6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A1C677F-8DC0-443F-B801-51DD63D2CA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7D675A6-8079-412B-BA83-4FC3BEC45A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30CA1DC-1C2C-4E24-8B48-CE0E87EFD2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5E39D6E-44D4-4E6F-A3D6-11164A16FF1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896B562C-AB8E-434F-924F-5BD4A66212A6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7C3540D3-E4D2-457E-BD6A-31FB8BB3601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20C6F2BA-72FA-42A7-824B-BF7A4E3F414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9/30/2026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8B6C08F0-6AC3-4403-A7AC-23A7366450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03F4F0BB-9F3C-45AF-9F90-F2B3D38526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82CD3FD-905D-4532-9C4A-E57A7B5E71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FE51DD77-38A2-4C88-9429-51B02228525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9/30/2026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3AB2405C-1598-4B60-B824-DEB3CC004F6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57D40CB-A1F2-462A-BF92-CF94C8E8B5A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5820428F-6AEC-4F53-854A-864A48FE4EF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9/30/2026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735ED04B-2AF6-48EE-AD11-950D5F2D6B6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8AD91643-4B72-4A4F-A276-DB6FEFFB4F8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B32B1EA-17E6-4B1E-979F-A88385F144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63F4ED7-BAC4-4CA0-9CEE-117F317FD1E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D689247-1ADD-4E20-A583-37B9C609891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85E6584-C33E-497E-AC92-F7E6BA3B9D3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9/30/2026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5966615-EDB5-469D-A53F-D9F7764C4C8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7376406-1814-4CC4-B936-CFF4F9E63C5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8AFD64E-6034-4F2C-AE8E-8D730399EB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52C2067D-50A6-4B2F-9DC4-00F612D1DC24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C5A8E82-60F1-49E5-8500-3951BC9D616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165A456-D457-4683-8281-3917CB4364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9/30/2026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F422457-9A77-4583-8693-71AD334A1AB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A4D6870-CD34-4C87-BF6E-52703B5744F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D001A85-40DE-4DDA-9618-8554578789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4915837-EDD7-4E20-80B2-43371BEE2B5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5B3D55D-06BB-4DBC-97EF-035E2DC3142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9/30/2026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2163EF9-2B62-47EC-A16B-28DEB07A92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81DF3E8-DBC3-42E5-A645-FABFF88D400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3C457F2F-C31D-4CF1-84A4-DD3DB95B7F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31935B6-7A91-40B6-9BA1-02ABA46049A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8D0BDB9-78D0-47CC-8D7B-A916A1BCFC7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9/30/2026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546C158-F912-4F00-A01F-B5B4033BA9C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EABE56C-33EA-40EE-A074-0E67A5988DF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0dbbe4501246b8" /><Relationship Type="http://schemas.openxmlformats.org/officeDocument/2006/relationships/slideLayout" Target="/ppt/slideLayouts/slideLayout1.xml" Id="Rd0a4f07df7e7452a" /><Relationship Type="http://schemas.openxmlformats.org/officeDocument/2006/relationships/slideLayout" Target="/ppt/slideLayouts/slideLayout2.xml" Id="R98dff3496b9b44c0" /><Relationship Type="http://schemas.openxmlformats.org/officeDocument/2006/relationships/slideLayout" Target="/ppt/slideLayouts/slideLayout3.xml" Id="R996a1fb84036493a" /><Relationship Type="http://schemas.openxmlformats.org/officeDocument/2006/relationships/slideLayout" Target="/ppt/slideLayouts/slideLayout4.xml" Id="Rc48bd3fd31ad45dc" /><Relationship Type="http://schemas.openxmlformats.org/officeDocument/2006/relationships/slideLayout" Target="/ppt/slideLayouts/slideLayout5.xml" Id="R9f0f325809d14398" /><Relationship Type="http://schemas.openxmlformats.org/officeDocument/2006/relationships/slideLayout" Target="/ppt/slideLayouts/slideLayout6.xml" Id="R91450c4005494eab" /><Relationship Type="http://schemas.openxmlformats.org/officeDocument/2006/relationships/slideLayout" Target="/ppt/slideLayouts/slideLayout7.xml" Id="Rc8b927cb1cb24303" /><Relationship Type="http://schemas.openxmlformats.org/officeDocument/2006/relationships/slideLayout" Target="/ppt/slideLayouts/slideLayout8.xml" Id="Ra09f313d8aa1423a" /><Relationship Type="http://schemas.openxmlformats.org/officeDocument/2006/relationships/slideLayout" Target="/ppt/slideLayouts/slideLayout9.xml" Id="R87b5431ae737422e" /><Relationship Type="http://schemas.openxmlformats.org/officeDocument/2006/relationships/slideLayout" Target="/ppt/slideLayouts/slideLayout10.xml" Id="Rd1b319bbee2247f9" /><Relationship Type="http://schemas.openxmlformats.org/officeDocument/2006/relationships/slideLayout" Target="/ppt/slideLayouts/slideLayout11.xml" Id="R78ccc656f48c4e9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7E3AD2D-AE32-4F1D-96F5-0F201D5794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7835044-A7C7-4BFA-AA26-67325CFA07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B12EB65-89C2-41BD-8F91-E1279CED46EE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9/30/2026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97DCD2C-6155-4C17-A8E9-02D6AFBA280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0A8385C-A2F4-4BFB-9006-0212DE7A2B9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a4f07df7e7452a"/>
    <p:sldLayoutId xmlns:r="http://schemas.openxmlformats.org/officeDocument/2006/relationships" id="2147483650" r:id="R98dff3496b9b44c0"/>
    <p:sldLayoutId xmlns:r="http://schemas.openxmlformats.org/officeDocument/2006/relationships" id="2147483651" r:id="R996a1fb84036493a"/>
    <p:sldLayoutId xmlns:r="http://schemas.openxmlformats.org/officeDocument/2006/relationships" id="2147483652" r:id="Rc48bd3fd31ad45dc"/>
    <p:sldLayoutId xmlns:r="http://schemas.openxmlformats.org/officeDocument/2006/relationships" id="2147483653" r:id="R9f0f325809d14398"/>
    <p:sldLayoutId xmlns:r="http://schemas.openxmlformats.org/officeDocument/2006/relationships" id="2147483654" r:id="R91450c4005494eab"/>
    <p:sldLayoutId xmlns:r="http://schemas.openxmlformats.org/officeDocument/2006/relationships" id="2147483655" r:id="Rc8b927cb1cb24303"/>
    <p:sldLayoutId xmlns:r="http://schemas.openxmlformats.org/officeDocument/2006/relationships" id="2147483656" r:id="Ra09f313d8aa1423a"/>
    <p:sldLayoutId xmlns:r="http://schemas.openxmlformats.org/officeDocument/2006/relationships" id="2147483657" r:id="R87b5431ae737422e"/>
    <p:sldLayoutId xmlns:r="http://schemas.openxmlformats.org/officeDocument/2006/relationships" id="2147483658" r:id="Rd1b319bbee2247f9"/>
    <p:sldLayoutId xmlns:r="http://schemas.openxmlformats.org/officeDocument/2006/relationships" id="2147483659" r:id="R78ccc656f48c4e9c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409eebd66fb4444" /><Relationship Type="http://schemas.openxmlformats.org/officeDocument/2006/relationships/image" Target="/ppt/media/image.png" Id="R429b3f67b6754eea" /><Relationship Type="http://schemas.openxmlformats.org/officeDocument/2006/relationships/image" Target="/ppt/media/image2.png" Id="Rbfca85f85b3c4fe4" /><Relationship Type="http://schemas.openxmlformats.org/officeDocument/2006/relationships/notesSlide" Target="/ppt/notesSlides/notesSlide1.xml" Id="R1d1a0e81ed954c2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f101dd79a814b42" /><Relationship Type="http://schemas.openxmlformats.org/officeDocument/2006/relationships/image" Target="/ppt/media/image3.png" Id="R00205c9ec47a4a91" /><Relationship Type="http://schemas.openxmlformats.org/officeDocument/2006/relationships/notesSlide" Target="/ppt/notesSlides/notesSlide2.xml" Id="R70fab222b0cf41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25f2fd7d9b549f0" /><Relationship Type="http://schemas.openxmlformats.org/officeDocument/2006/relationships/image" Target="/ppt/media/image4.png" Id="R6c372af442c24269" /><Relationship Type="http://schemas.openxmlformats.org/officeDocument/2006/relationships/notesSlide" Target="/ppt/notesSlides/notesSlide3.xml" Id="Rf0a6dbf8ba9f46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be21bd570a348c1" /><Relationship Type="http://schemas.openxmlformats.org/officeDocument/2006/relationships/image" Target="/ppt/media/image5.png" Id="Rbe0be8dbf3794af9" /><Relationship Type="http://schemas.openxmlformats.org/officeDocument/2006/relationships/notesSlide" Target="/ppt/notesSlides/notesSlide4.xml" Id="R4c0649069bf64f8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210fd6b2b9f4385" /><Relationship Type="http://schemas.openxmlformats.org/officeDocument/2006/relationships/image" Target="/ppt/media/image6.png" Id="Re551bc50f66e40a2" /><Relationship Type="http://schemas.openxmlformats.org/officeDocument/2006/relationships/image" Target="/ppt/media/image.jpeg" Id="R99fdf5a9f6924b24" /><Relationship Type="http://schemas.openxmlformats.org/officeDocument/2006/relationships/image" Target="/ppt/media/image2.jpeg" Id="Ra854dcc2c2c1481d" /><Relationship Type="http://schemas.openxmlformats.org/officeDocument/2006/relationships/image" Target="/ppt/media/image3.jpeg" Id="Re5feda4ad2304f5b" /><Relationship Type="http://schemas.openxmlformats.org/officeDocument/2006/relationships/image" Target="/ppt/media/image4.jpeg" Id="R344a828dc89c4ea4" /><Relationship Type="http://schemas.openxmlformats.org/officeDocument/2006/relationships/image" Target="/ppt/media/image5.jpeg" Id="R472937a9ed864f1f" /><Relationship Type="http://schemas.openxmlformats.org/officeDocument/2006/relationships/notesSlide" Target="/ppt/notesSlides/notesSlide5.xml" Id="R0b08496ec477421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c0ad4278f314e31" /><Relationship Type="http://schemas.openxmlformats.org/officeDocument/2006/relationships/image" Target="/ppt/media/image7.png" Id="R13d4f2cb94384372" /><Relationship Type="http://schemas.openxmlformats.org/officeDocument/2006/relationships/notesSlide" Target="/ppt/notesSlides/notesSlide6.xml" Id="R51d7192a54814d5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6a1482b7efa411b" /><Relationship Type="http://schemas.openxmlformats.org/officeDocument/2006/relationships/image" Target="/ppt/media/image8.png" Id="R7d45756e47574d72" /><Relationship Type="http://schemas.openxmlformats.org/officeDocument/2006/relationships/notesSlide" Target="/ppt/notesSlides/notesSlide7.xml" Id="Rd42621a3052d443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9014d91940b4588" /><Relationship Type="http://schemas.openxmlformats.org/officeDocument/2006/relationships/image" Target="/ppt/media/image9.png" Id="Rd41462f104674376" /><Relationship Type="http://schemas.openxmlformats.org/officeDocument/2006/relationships/notesSlide" Target="/ppt/notesSlides/notesSlide8.xml" Id="R2568920ab2674d8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f9e6f4ffa9f48d1" /><Relationship Type="http://schemas.openxmlformats.org/officeDocument/2006/relationships/image" Target="/ppt/media/image10.png" Id="R5d29dedc76584404" /><Relationship Type="http://schemas.openxmlformats.org/officeDocument/2006/relationships/notesSlide" Target="/ppt/notesSlides/notesSlide9.xml" Id="Rcec355dbae7b426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f696def024d46a3" /><Relationship Type="http://schemas.openxmlformats.org/officeDocument/2006/relationships/image" Target="/ppt/media/image11.png" Id="Rc0e99f98e6584068" /><Relationship Type="http://schemas.openxmlformats.org/officeDocument/2006/relationships/notesSlide" Target="/ppt/notesSlides/notesSlide10.xml" Id="R5a3ab6288abd464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ea23a5d62214914" /><Relationship Type="http://schemas.openxmlformats.org/officeDocument/2006/relationships/image" Target="/ppt/media/image12.png" Id="R6be04b70a3a7454d" /><Relationship Type="http://schemas.openxmlformats.org/officeDocument/2006/relationships/image" Target="/ppt/media/image13.png" Id="Re167622eb1d146b6" /><Relationship Type="http://schemas.openxmlformats.org/officeDocument/2006/relationships/notesSlide" Target="/ppt/notesSlides/notesSlide11.xml" Id="Redc9bdcfcef8436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09C11F0-6CA4-4001-B6F9-20F9A33F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45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9b3f67b6754ee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320040"/>
            <a:ext cx="658368" cy="841248"/>
          </a:xfrm>
          <a:prstGeom xmlns:a="http://schemas.openxmlformats.org/drawingml/2006/main" prst="rect">
            <a:avLst/>
          </a:prstGeom>
        </p:spPr>
      </p:pic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6686CB6-5CF8-44F3-8B1A-339DC9DF9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96" y="320040"/>
            <a:ext cx="42062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001F1E"/>
                </a:solidFill>
                <a:latin typeface="Arial"/>
                <a:ea typeface="Arial"/>
                <a:cs typeface="Arial"/>
              </a:rPr>
              <a:t>Доступ к решению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E3BE56D-ED92-4966-9D3A-586E65AFE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841248"/>
            <a:ext cx="44348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0">
                <a:solidFill>
                  <a:srgbClr val="67827B"/>
                </a:solidFill>
                <a:latin typeface="Arial"/>
                <a:ea typeface="Arial"/>
                <a:cs typeface="Arial"/>
              </a:rPr>
              <a:t>«Непарадный Ставрополь» — служебный первый слайд для технической проверки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243D455E-BE14-47C8-97B6-E782AE78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1752"/>
            <a:ext cx="256032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B9D0C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49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ca85f85b3c4fe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55080" y="429768"/>
            <a:ext cx="987552" cy="987552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73DBD94-2956-4B68-B19F-6CF100638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504" y="475488"/>
            <a:ext cx="10515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1F1E"/>
                </a:solidFill>
                <a:latin typeface="Arial"/>
                <a:ea typeface="Arial"/>
                <a:cs typeface="Arial"/>
              </a:rPr>
              <a:t>Mini app / бот MAX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7080D71-4C3A-4CBA-8469-7D7681D5D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777240"/>
            <a:ext cx="10241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67827B"/>
                </a:solidFill>
                <a:latin typeface="Arial"/>
                <a:ea typeface="Arial"/>
                <a:cs typeface="Arial"/>
              </a:rPr>
              <a:t>QR и ссылка для быстрого входа перед подачей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7DA6B7D-37E8-4E67-9BD2-20DA792C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504" y="1207008"/>
            <a:ext cx="107899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60" b="0">
                <a:solidFill>
                  <a:srgbClr val="001F1E"/>
                </a:solidFill>
                <a:latin typeface="Arial"/>
                <a:ea typeface="Arial"/>
                <a:cs typeface="Arial"/>
              </a:rPr>
              <a:t>https://max.ru/t632_hakaton_max_bot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413F964E-6392-4617-ACF4-0F3064D46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664208"/>
            <a:ext cx="5897880" cy="26791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1EE"/>
          </a:solidFill>
          <a:ln xmlns:a="http://schemas.openxmlformats.org/drawingml/2006/main" w="13970">
            <a:solidFill>
              <a:srgbClr val="B9D0C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F02E8707-2F0B-4CA6-B126-CD8E848C2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828800"/>
            <a:ext cx="29260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1F1E"/>
                </a:solidFill>
                <a:latin typeface="Arial"/>
                <a:ea typeface="Arial"/>
                <a:cs typeface="Arial"/>
              </a:rPr>
              <a:t>Проверочные ссылки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EE1DB18A-F8FE-475B-9AE2-4E13A0AF1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194560"/>
            <a:ext cx="5440680" cy="457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D4E2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C3BB6CF7-D1BB-47BA-86BB-93F7A4183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313432"/>
            <a:ext cx="841248" cy="182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6C5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36576" rIns="36576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MAX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0E657D87-DBA1-4462-A010-6190D422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088" y="2267712"/>
            <a:ext cx="398678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80" b="0">
                <a:solidFill>
                  <a:srgbClr val="001F1E"/>
                </a:solidFill>
                <a:latin typeface="Arial"/>
                <a:ea typeface="Arial"/>
                <a:cs typeface="Arial"/>
              </a:rPr>
              <a:t>https://max.ru/t632_hakaton_max_bot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A554CE11-7BF0-4A75-B1E8-72CBCB3A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088" y="2459736"/>
            <a:ext cx="3986784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67827B"/>
                </a:solidFill>
                <a:latin typeface="Arial"/>
                <a:ea typeface="Arial"/>
                <a:cs typeface="Arial"/>
              </a:rPr>
              <a:t>Основной</a:t>
            </a:r>
            <a:r>
              <a:rPr sz="780" b="0">
                <a:solidFill>
                  <a:srgbClr val="67827B"/>
                </a:solidFill>
                <a:latin typeface="Arial"/>
                <a:ea typeface="Arial"/>
                <a:cs typeface="Arial"/>
              </a:rPr>
              <a:t> </a:t>
            </a:r>
            <a:r>
              <a:rPr sz="780" b="0">
                <a:solidFill>
                  <a:srgbClr val="67827B"/>
                </a:solidFill>
                <a:latin typeface="Arial"/>
                <a:ea typeface="Arial"/>
                <a:cs typeface="Arial"/>
              </a:rPr>
              <a:t>сценарий</a:t>
            </a:r>
            <a:r>
              <a:rPr sz="780" b="0">
                <a:solidFill>
                  <a:srgbClr val="67827B"/>
                </a:solidFill>
                <a:latin typeface="Arial"/>
                <a:ea typeface="Arial"/>
                <a:cs typeface="Arial"/>
              </a:rPr>
              <a:t> </a:t>
            </a:r>
            <a:r>
              <a:rPr sz="780" b="0">
                <a:solidFill>
                  <a:srgbClr val="67827B"/>
                </a:solidFill>
                <a:latin typeface="Arial"/>
                <a:ea typeface="Arial"/>
                <a:cs typeface="Arial"/>
              </a:rPr>
              <a:t>запускается</a:t>
            </a:r>
            <a:r>
              <a:rPr sz="780" b="0">
                <a:solidFill>
                  <a:srgbClr val="67827B"/>
                </a:solidFill>
                <a:latin typeface="Arial"/>
                <a:ea typeface="Arial"/>
                <a:cs typeface="Arial"/>
              </a:rPr>
              <a:t> в MAX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6BEA664F-B867-4D85-B0BC-C21FA515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724912"/>
            <a:ext cx="5440680" cy="457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D4E2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D2CCA08E-258E-4B74-8AC2-19DD8CADB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843784"/>
            <a:ext cx="841248" cy="182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6C5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36576" rIns="36576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API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058484DC-791D-4DF9-A858-6784B674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088" y="2798064"/>
            <a:ext cx="398678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80" b="0">
                <a:solidFill>
                  <a:srgbClr val="001F1E"/>
                </a:solidFill>
                <a:latin typeface="Arial"/>
                <a:ea typeface="Arial"/>
                <a:cs typeface="Arial"/>
              </a:rPr>
              <a:t>https://max-guide.legacy-team.tech/api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D0A1D026-0171-4F60-9979-10503895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088" y="2990088"/>
            <a:ext cx="3986784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67827B"/>
                </a:solidFill>
                <a:latin typeface="Arial"/>
                <a:ea typeface="Arial"/>
                <a:cs typeface="Arial"/>
              </a:rPr>
              <a:t>Публичный HTTPS API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CEBF72EB-2359-44C3-8B15-3C20F3D62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255264"/>
            <a:ext cx="5440680" cy="457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D4E2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68B244E5-FC5F-4099-8A1C-FF8F0D62B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374136"/>
            <a:ext cx="841248" cy="182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6C5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36576" rIns="36576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DOCS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30408459-CDCA-401D-B8CC-16C5C961F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088" y="3328416"/>
            <a:ext cx="398678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80" b="0">
                <a:solidFill>
                  <a:srgbClr val="001F1E"/>
                </a:solidFill>
                <a:latin typeface="Arial"/>
                <a:ea typeface="Arial"/>
                <a:cs typeface="Arial"/>
              </a:rPr>
              <a:t>https://max-guide.legacy-team.tech/api/docs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1E48D218-2FC2-4E07-8D96-1B40D60D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088" y="3520440"/>
            <a:ext cx="3986784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67827B"/>
                </a:solidFill>
                <a:latin typeface="Arial"/>
                <a:ea typeface="Arial"/>
                <a:cs typeface="Arial"/>
              </a:rPr>
              <a:t>Swagger / OpenAPI 3.x</a:t>
            </a: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D861A41F-A676-40D2-8A01-6862C86B7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785615"/>
            <a:ext cx="5440680" cy="457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D4E2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9D0A11CA-CC77-48C5-AF7C-487CFB9F9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904487"/>
            <a:ext cx="841248" cy="182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96B3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36576" rIns="36576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9ED3C66C-51A3-46DE-BA4C-A8BC64606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088" y="3819525"/>
            <a:ext cx="4248150" cy="3169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>
                <a:solidFill>
                  <a:srgbClr val="163B3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63B37"/>
                </a:solidFill>
                <a:latin typeface="Arial"/>
                <a:ea typeface="Arial"/>
                <a:cs typeface="Arial"/>
              </a:rPr>
              <a:t>https://github.com/Inu221/max-guide-submission</a:t>
            </a:r>
          </a:p>
          <a:p xmlns:a="http://schemas.openxmlformats.org/drawingml/2006/main">
            <a:pPr algn="l">
              <a:buNone/>
              <a:defRPr sz="750">
                <a:solidFill>
                  <a:srgbClr val="163B3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63B37"/>
                </a:solidFill>
                <a:latin typeface="Arial"/>
                <a:ea typeface="Arial"/>
                <a:cs typeface="Arial"/>
              </a:rPr>
              <a:t>Исходники: dc8262cde5a101b237146c973b18a7e7e1939d3e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1C0F1B8E-D840-4830-8B8D-EFEF6137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088" y="4114800"/>
            <a:ext cx="424815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85">
                <a:solidFill>
                  <a:srgbClr val="526B67"/>
                </a:solidFill>
                <a:latin typeface="Arial"/>
                <a:ea typeface="Arial"/>
                <a:cs typeface="Arial"/>
              </a:defRPr>
            </a:pPr>
            <a:r>
              <a:rPr sz="585">
                <a:solidFill>
                  <a:srgbClr val="526B67"/>
                </a:solidFill>
                <a:latin typeface="Arial"/>
                <a:ea typeface="Arial"/>
                <a:cs typeface="Arial"/>
              </a:rPr>
              <a:t>SHA-256 архива: 7ad7a2a35450bc439e819230508548ae0603976c34f92b2efdfbff5c8f8fb03d</a:t>
            </a:r>
            <a:endParaRPr sz="780" b="0">
              <a:solidFill>
                <a:srgbClr val="67827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5387D907-B91D-4133-B871-C8C3CD1EC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1664208"/>
            <a:ext cx="2221992" cy="26791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B9D0C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FD452186-E024-4C9B-8042-1526F721A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856231"/>
            <a:ext cx="950976" cy="2011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6C5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36576" rIns="36576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TEST USER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EA2C6F92-5A66-4659-94C7-9DBC8CA29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148840"/>
            <a:ext cx="153619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001F1E"/>
                </a:solidFill>
                <a:latin typeface="Arial"/>
                <a:ea typeface="Arial"/>
                <a:cs typeface="Arial"/>
              </a:rPr>
              <a:t>Тестовый пользователь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32CBB574-121B-4A64-B7EF-959F6C36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615184"/>
            <a:ext cx="1630600" cy="1646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>
                <a:solidFill>
                  <a:srgbClr val="001F1E"/>
                </a:solidFill>
                <a:latin typeface="Arial"/>
                <a:ea typeface="Arial"/>
                <a:cs typeface="Arial"/>
              </a:rPr>
              <a:t>Логин:     </a:t>
            </a:r>
            <a:r>
              <a:rPr sz="950">
                <a:solidFill>
                  <a:srgbClr val="001F1E"/>
                </a:solidFill>
                <a:latin typeface="Arial"/>
                <a:ea typeface="Arial"/>
                <a:cs typeface="Arial"/>
              </a:rPr>
              <a:t>admin@admin.com</a:t>
            </a:r>
            <a:endParaRPr sz="950" b="0">
              <a:solidFill>
                <a:srgbClr val="001F1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9C912D91-65B1-4876-AEAF-17A531B37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935224"/>
            <a:ext cx="1481328" cy="457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>
                <a:solidFill>
                  <a:srgbClr val="001F1E"/>
                </a:solidFill>
                <a:latin typeface="Arial"/>
                <a:ea typeface="Arial"/>
                <a:cs typeface="Arial"/>
              </a:rPr>
              <a:t>Пароль:    </a:t>
            </a:r>
            <a:r>
              <a:rPr sz="950" b="0">
                <a:solidFill>
                  <a:srgbClr val="001F1E"/>
                </a:solidFill>
                <a:latin typeface="Arial"/>
                <a:ea typeface="Arial"/>
                <a:cs typeface="Arial"/>
              </a:rPr>
              <a:t>adminadmin</a:t>
            </a:r>
            <a:endParaRPr sz="950" b="0">
              <a:solidFill>
                <a:srgbClr val="001F1E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</a:pPr>
            <a:endParaRPr sz="950">
              <a:solidFill>
                <a:srgbClr val="001F1E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</a:pPr>
            <a:r>
              <a:rPr sz="950" b="0">
                <a:solidFill>
                  <a:srgbClr val="001F1E"/>
                </a:solidFill>
                <a:latin typeface="Arial"/>
                <a:ea typeface="Arial"/>
                <a:cs typeface="Arial"/>
              </a:rPr>
              <a:t>Роль: пользователь</a:t>
            </a:r>
          </a:p>
        </p:txBody>
      </p:sp>
      <p:sp>
        <p:nvSpPr>
          <p:cNvPr id="36" name="Rounded Rectangle 35">
            <a:extLst xmlns:a="http://schemas.openxmlformats.org/drawingml/2006/main">
              <a:ext uri="{FF2B5EF4-FFF2-40B4-BE49-F238E27FC236}">
                <a16:creationId xmlns:a16="http://schemas.microsoft.com/office/drawing/2014/main" id="{0BCAA60C-5D72-448E-B1F5-792BDA3F3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3259" y="3455540"/>
            <a:ext cx="1948486" cy="480951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6EF"/>
          </a:solidFill>
          <a:ln xmlns:a="http://schemas.openxmlformats.org/drawingml/2006/main" w="13970">
            <a:solidFill>
              <a:srgbClr val="D4E2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9" name="Rounded Rectangle 38">
            <a:extLst xmlns:a="http://schemas.openxmlformats.org/drawingml/2006/main">
              <a:ext uri="{FF2B5EF4-FFF2-40B4-BE49-F238E27FC236}">
                <a16:creationId xmlns:a16="http://schemas.microsoft.com/office/drawing/2014/main" id="{10E4A229-8307-4698-AF85-B0CF3D29C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517136"/>
            <a:ext cx="832104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B9D0C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0" name="Rounded Rectangle 39">
            <a:extLst xmlns:a="http://schemas.openxmlformats.org/drawingml/2006/main">
              <a:ext uri="{FF2B5EF4-FFF2-40B4-BE49-F238E27FC236}">
                <a16:creationId xmlns:a16="http://schemas.microsoft.com/office/drawing/2014/main" id="{3E74B3B1-7120-4263-B152-CFDFC85B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626864"/>
            <a:ext cx="841248" cy="1645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96B3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36576" rIns="36576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СЦЕНАРИЙ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F0F5FE42-08A0-4663-BF26-C562EBDE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5579" y="4581145"/>
            <a:ext cx="66568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10" b="0">
                <a:solidFill>
                  <a:srgbClr val="001F1E"/>
                </a:solidFill>
                <a:latin typeface="Arial"/>
                <a:ea typeface="Arial"/>
                <a:cs typeface="Arial"/>
              </a:rPr>
              <a:t>Открыть MAX → выбрать интересы и доступное время → получить маршрут → открыть карточку места → сохранить или отправить результат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F5576CF4-18EF-4519-A965-7BE799B38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3536946"/>
            <a:ext cx="1965960" cy="303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t">
            <a:spAutoFit/>
          </a:bodyPr>
          <a:lstStyle xmlns:a="http://schemas.openxmlformats.org/drawingml/2006/main"/>
          <a:p xmlns:a="http://schemas.openxmlformats.org/drawingml/2006/main">
            <a:r>
              <a:rPr sz="950" b="0">
                <a:solidFill>
                  <a:srgbClr val="001F1E"/>
                </a:solidFill>
                <a:latin typeface="Arial"/>
                <a:ea typeface="Arial"/>
                <a:cs typeface="Arial"/>
              </a:rPr>
              <a:t>Доступен только из браузера: </a:t>
            </a:r>
            <a:r>
              <a:rPr sz="900">
                <a:solidFill>
                  <a:srgbClr val="001F1E"/>
                </a:solidFill>
                <a:latin typeface="Arial"/>
                <a:ea typeface="Arial"/>
                <a:cs typeface="Arial"/>
              </a:rPr>
              <a:t>https://max-guide.legacy-team.tech</a:t>
            </a:r>
            <a:endParaRPr sz="950" b="0">
              <a:solidFill>
                <a:srgbClr val="001F1E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7662121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205c9ec47a4a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98135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372af442c242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94860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0be8dbf3794af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80594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51bc50f66e40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F8936B-10C6-479E-9C7C-442EC0D64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114425" cy="2009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fdf5a9f6924b24"/>
          <a:stretch xmlns:a="http://schemas.openxmlformats.org/drawingml/2006/main"/>
        </p:blipFill>
        <p:spPr>
          <a:xfrm xmlns:a="http://schemas.openxmlformats.org/drawingml/2006/main">
            <a:off x="759619" y="1428750"/>
            <a:ext cx="928688" cy="2009775"/>
          </a:xfrm>
          <a:prstGeom xmlns:a="http://schemas.openxmlformats.org/drawingml/2006/main" prst="roundRect">
            <a:avLst>
              <a:gd name="adj" fmla="val 5128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BBD63F-2E7D-48E9-B0C5-4001D8A18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428750"/>
            <a:ext cx="1114425" cy="2009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54dcc2c2c1481d"/>
          <a:stretch xmlns:a="http://schemas.openxmlformats.org/drawingml/2006/main"/>
        </p:blipFill>
        <p:spPr>
          <a:xfrm xmlns:a="http://schemas.openxmlformats.org/drawingml/2006/main">
            <a:off x="2436019" y="1428750"/>
            <a:ext cx="928688" cy="2009775"/>
          </a:xfrm>
          <a:prstGeom xmlns:a="http://schemas.openxmlformats.org/drawingml/2006/main" prst="roundRect">
            <a:avLst>
              <a:gd name="adj" fmla="val 5128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F1A137-724C-4130-B1F6-CC0233438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1428750"/>
            <a:ext cx="1114425" cy="2009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feda4ad2304f5b"/>
          <a:stretch xmlns:a="http://schemas.openxmlformats.org/drawingml/2006/main"/>
        </p:blipFill>
        <p:spPr>
          <a:xfrm xmlns:a="http://schemas.openxmlformats.org/drawingml/2006/main">
            <a:off x="4064794" y="1428750"/>
            <a:ext cx="928688" cy="2009775"/>
          </a:xfrm>
          <a:prstGeom xmlns:a="http://schemas.openxmlformats.org/drawingml/2006/main" prst="roundRect">
            <a:avLst>
              <a:gd name="adj" fmla="val 5128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7ACD57-DC5A-40AC-8B75-0820E1CA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1428750"/>
            <a:ext cx="1114425" cy="2009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4a828dc89c4ea4"/>
          <a:stretch xmlns:a="http://schemas.openxmlformats.org/drawingml/2006/main"/>
        </p:blipFill>
        <p:spPr>
          <a:xfrm xmlns:a="http://schemas.openxmlformats.org/drawingml/2006/main">
            <a:off x="5684044" y="1428750"/>
            <a:ext cx="928688" cy="2009775"/>
          </a:xfrm>
          <a:prstGeom xmlns:a="http://schemas.openxmlformats.org/drawingml/2006/main" prst="roundRect">
            <a:avLst>
              <a:gd name="adj" fmla="val 5128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237A7D-5C89-4610-8B51-0CF3DDCAE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428750"/>
            <a:ext cx="1114425" cy="2009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2937a9ed864f1f"/>
          <a:stretch xmlns:a="http://schemas.openxmlformats.org/drawingml/2006/main"/>
        </p:blipFill>
        <p:spPr>
          <a:xfrm xmlns:a="http://schemas.openxmlformats.org/drawingml/2006/main">
            <a:off x="7341394" y="1428750"/>
            <a:ext cx="928688" cy="2009775"/>
          </a:xfrm>
          <a:prstGeom xmlns:a="http://schemas.openxmlformats.org/drawingml/2006/main" prst="roundRect">
            <a:avLst>
              <a:gd name="adj" fmla="val 5128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992002-D592-4B10-9860-EA3B5522B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90925"/>
            <a:ext cx="1714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1905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528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2833"/>
                </a:solidFill>
                <a:latin typeface="Arial"/>
                <a:ea typeface="Arial"/>
                <a:cs typeface="Arial"/>
              </a:rPr>
              <a:t>1. Открыть mini app</a:t>
            </a:r>
          </a:p>
          <a:p xmlns:a="http://schemas.openxmlformats.org/drawingml/2006/main">
            <a:pPr>
              <a:buNone/>
              <a:defRPr sz="975" b="1">
                <a:solidFill>
                  <a:srgbClr val="1528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2833"/>
                </a:solidFill>
                <a:latin typeface="Arial"/>
                <a:ea typeface="Arial"/>
                <a:cs typeface="Arial"/>
              </a:rPr>
              <a:t>и посмотреть ленту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893BE4-4A00-4E81-8C5D-4CF593CA8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590925"/>
            <a:ext cx="1714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1905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528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2833"/>
                </a:solidFill>
                <a:latin typeface="Arial"/>
                <a:ea typeface="Arial"/>
                <a:cs typeface="Arial"/>
              </a:rPr>
              <a:t>2. Выбрать параметры</a:t>
            </a:r>
          </a:p>
          <a:p xmlns:a="http://schemas.openxmlformats.org/drawingml/2006/main">
            <a:pPr>
              <a:buNone/>
              <a:defRPr sz="975" b="1">
                <a:solidFill>
                  <a:srgbClr val="1528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2833"/>
                </a:solidFill>
                <a:latin typeface="Arial"/>
                <a:ea typeface="Arial"/>
                <a:cs typeface="Arial"/>
              </a:rPr>
              <a:t>прогулки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6A8887-22B4-4C20-AC44-10FA2629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590925"/>
            <a:ext cx="1714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1905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528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2833"/>
                </a:solidFill>
                <a:latin typeface="Arial"/>
                <a:ea typeface="Arial"/>
                <a:cs typeface="Arial"/>
              </a:rPr>
              <a:t>3. Построить маршрут</a:t>
            </a:r>
          </a:p>
          <a:p xmlns:a="http://schemas.openxmlformats.org/drawingml/2006/main">
            <a:pPr>
              <a:buNone/>
              <a:defRPr sz="975" b="1">
                <a:solidFill>
                  <a:srgbClr val="1528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2833"/>
                </a:solidFill>
                <a:latin typeface="Arial"/>
                <a:ea typeface="Arial"/>
                <a:cs typeface="Arial"/>
              </a:rPr>
              <a:t>и посмотреть места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4B011D-D9BA-429C-AF01-FE0EDF46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590925"/>
            <a:ext cx="1714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1905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528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2833"/>
                </a:solidFill>
                <a:latin typeface="Arial"/>
                <a:ea typeface="Arial"/>
                <a:cs typeface="Arial"/>
              </a:rPr>
              <a:t>4. Открыть карточку</a:t>
            </a:r>
          </a:p>
          <a:p xmlns:a="http://schemas.openxmlformats.org/drawingml/2006/main">
            <a:pPr>
              <a:buNone/>
              <a:defRPr sz="975" b="1">
                <a:solidFill>
                  <a:srgbClr val="1528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2833"/>
                </a:solidFill>
                <a:latin typeface="Arial"/>
                <a:ea typeface="Arial"/>
                <a:cs typeface="Arial"/>
              </a:rPr>
              <a:t>и поделиться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6B4720-E1CB-45CA-8081-B35144F96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590925"/>
            <a:ext cx="1714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1905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528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2833"/>
                </a:solidFill>
                <a:latin typeface="Arial"/>
                <a:ea typeface="Arial"/>
                <a:cs typeface="Arial"/>
              </a:rPr>
              <a:t>5. Открыть сохранённый</a:t>
            </a:r>
          </a:p>
          <a:p xmlns:a="http://schemas.openxmlformats.org/drawingml/2006/main">
            <a:pPr>
              <a:buNone/>
              <a:defRPr sz="975" b="1">
                <a:solidFill>
                  <a:srgbClr val="1528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2833"/>
                </a:solidFill>
                <a:latin typeface="Arial"/>
                <a:ea typeface="Arial"/>
                <a:cs typeface="Arial"/>
              </a:rPr>
              <a:t>маршрут на карте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BA5AE7-18C2-4FA7-B7F7-66419AA70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410075"/>
            <a:ext cx="2133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675">
                <a:solidFill>
                  <a:srgbClr val="929692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929692"/>
                </a:solidFill>
                <a:latin typeface="Arial"/>
                <a:ea typeface="Arial"/>
                <a:cs typeface="Arial"/>
              </a:rPr>
              <a:t>Мобильный интерфейс работающего сервиса</a:t>
            </a:r>
          </a:p>
        </p:txBody>
      </p:sp>
    </p:spTree>
    <p:extLst>
      <p:ext uri="{BB962C8B-B14F-4D97-AF65-F5344CB8AC3E}">
        <p14:creationId xmlns:p14="http://schemas.microsoft.com/office/powerpoint/2010/main" val="126985379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d4f2cb943843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65287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45756e47574d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86355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1462f1046743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2158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29dedc765844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44154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e99f98e65840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85042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e04b70a3a7454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pic>
        <p:nvPicPr>
          <p:cNvPr id="4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67622eb1d146b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08485" y="3341989"/>
            <a:ext cx="1403006" cy="1403006"/>
          </a:xfrm>
          <a:prstGeom xmlns:a="http://schemas.openxmlformats.org/drawingml/2006/main" prst="roundRect">
            <a:avLst>
              <a:gd name="adj" fmla="val 4167"/>
            </a:avLst>
          </a:prstGeom>
          <a:ln xmlns:a="http://schemas.openxmlformats.org/drawingml/2006/main" w="76200" cap="sq">
            <a:solidFill>
              <a:srgbClr val="292929"/>
            </a:solidFill>
            <a:miter/>
          </a:ln>
          <a:effectLst xmlns:a="http://schemas.openxmlformats.org/drawingml/2006/main">
            <a:reflection blurRad="12700" stA="2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39768812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2026-09-30T08:44:41.4910000Z</dcterms:created>
  <dcterms:modified xsi:type="dcterms:W3CDTF">2026-09-30T08:44:41.4910000Z</dcterms:modified>
</coreProperties>
</file>